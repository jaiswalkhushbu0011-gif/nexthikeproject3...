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532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company where you completed this project, and the topic: EDA for Real Estate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 of the project from problem to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pricing is hard and what EDA adds.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dataset size and source from your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these match the tools you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first-look commands and what they revealed.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 to match your exact cleaning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own charts here if you have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bracketed placeholders with your actual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669280" cy="5669280"/>
          </a:xfrm>
          <a:prstGeom prst="ellipse">
            <a:avLst/>
          </a:prstGeom>
          <a:solidFill>
            <a:srgbClr val="1D2E55"/>
          </a:solidFill>
          <a:ln w="12700">
            <a:solidFill>
              <a:srgbClr val="1D2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291840"/>
            <a:ext cx="4023360" cy="402336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731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9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for Real Estate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to understand what drives property prices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120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Khushbu Jaiswal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9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 IT Solution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for Real Estate Pricing  |  Khushbu Jaiswal  |  Nexthike IT Solution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51434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1874520"/>
            <a:ext cx="2462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Problem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337304" y="1783080"/>
            <a:ext cx="351434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5904" y="1965960"/>
            <a:ext cx="502920" cy="50292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65904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251704" y="1874520"/>
            <a:ext cx="2462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125968" y="1783080"/>
            <a:ext cx="351434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54568" y="1965960"/>
            <a:ext cx="502920" cy="50292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54568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040368" y="1874520"/>
            <a:ext cx="2462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Workflow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48640" y="2880360"/>
            <a:ext cx="351434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77240" y="3063240"/>
            <a:ext cx="502920" cy="50292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463040" y="2971800"/>
            <a:ext cx="2462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Inspection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4337304" y="2880360"/>
            <a:ext cx="351434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65904" y="3063240"/>
            <a:ext cx="502920" cy="50292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65904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251704" y="2971800"/>
            <a:ext cx="2462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8125968" y="2880360"/>
            <a:ext cx="351434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354568" y="3063240"/>
            <a:ext cx="502920" cy="50292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354568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040368" y="2971800"/>
            <a:ext cx="2462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48640" y="3977640"/>
            <a:ext cx="351434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463040" y="4069080"/>
            <a:ext cx="2462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4337304" y="3977640"/>
            <a:ext cx="351434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565904" y="4160520"/>
            <a:ext cx="502920" cy="50292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565904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251704" y="4069080"/>
            <a:ext cx="2462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8125968" y="3977640"/>
            <a:ext cx="351434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8354568" y="4160520"/>
            <a:ext cx="502920" cy="50292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354568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9040368" y="4069080"/>
            <a:ext cx="2462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700" dirty="0"/>
          </a:p>
        </p:txBody>
      </p:sp>
      <p:sp>
        <p:nvSpPr>
          <p:cNvPr id="43" name="Shape 40"/>
          <p:cNvSpPr/>
          <p:nvPr/>
        </p:nvSpPr>
        <p:spPr>
          <a:xfrm>
            <a:off x="548640" y="5074920"/>
            <a:ext cx="351434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77240" y="5257800"/>
            <a:ext cx="502920" cy="50292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772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1463040" y="5166360"/>
            <a:ext cx="2462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700" dirty="0"/>
          </a:p>
        </p:txBody>
      </p:sp>
      <p:sp>
        <p:nvSpPr>
          <p:cNvPr id="47" name="Shape 44"/>
          <p:cNvSpPr/>
          <p:nvPr/>
        </p:nvSpPr>
        <p:spPr>
          <a:xfrm>
            <a:off x="4337304" y="5074920"/>
            <a:ext cx="351434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4565904" y="5257800"/>
            <a:ext cx="502920" cy="50292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565904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251704" y="5166360"/>
            <a:ext cx="2462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700" dirty="0"/>
          </a:p>
        </p:txBody>
      </p:sp>
      <p:sp>
        <p:nvSpPr>
          <p:cNvPr id="51" name="Shape 48"/>
          <p:cNvSpPr/>
          <p:nvPr/>
        </p:nvSpPr>
        <p:spPr>
          <a:xfrm>
            <a:off x="8125968" y="5074920"/>
            <a:ext cx="351434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8354568" y="5257800"/>
            <a:ext cx="502920" cy="50292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354568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9040368" y="5166360"/>
            <a:ext cx="2462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Next Steps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goal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prices depend on many factors at once. EDA turns raw listings into evidence.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for Real Estate Pricing  |  Khushbu Jaiswal  |  Nexthike IT Solution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42900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25196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vary widely with location, size, age and amenities, so buyers, sellers and agents struggle to judge a fair price.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52544" y="242316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26864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26864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626864" y="342900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objective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626864" y="425196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exploratory data analysis to uncover patterns, relationships and anomalies that drive real estate prices.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156448" y="242316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430768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30768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430768" y="342900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outcome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425196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well-understood dataset and clear insights that can support pricing decisions and later predictive models.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[__ rows x __ columns]   |   Source: [add dataset source]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for Real Estate Pricing  |  Khushbu Jaiswal  |  Nexthike IT Solution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group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pricing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B4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City, locality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B4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driver of price level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B4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area (sq ft), bedrooms, bathrooms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B4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the base value of a property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details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B4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floor, furnishing, status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B4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Adjusts value for condition and comfort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Amenities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B4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Parking, lift, security, garden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B4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premium to the price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B4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B4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variable we want to explain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workflow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followed a repeatable notebook workflow, from raw data to insights.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for Real Estate Pricing  |  Khushbu Jaiswal  |  Nexthike IT Solution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429000"/>
            <a:ext cx="198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251960"/>
            <a:ext cx="19842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loading, cleaning and analysing the data.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401568" y="242316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75888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75888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675888" y="3429000"/>
            <a:ext cx="198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&amp; NumPy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3675888" y="4251960"/>
            <a:ext cx="19842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manipulation, group-by summaries and numeric operations.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54496" y="242316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28816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2881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528816" y="3429000"/>
            <a:ext cx="198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&amp; Seaborn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6528816" y="4251960"/>
            <a:ext cx="19842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Histograms, box plots, scatter plots and heatmaps.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9107424" y="242316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381744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381744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9381744" y="3429000"/>
            <a:ext cx="198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Notebook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9381744" y="4251960"/>
            <a:ext cx="19842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code, charts and notes in one place.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inspection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look at the data shows its structure and quality before any changes.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for Real Estate Pricing  |  Khushbu Jaiswal  |  Nexthike IT Solution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checked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4290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number of rows and columns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head() and tail() to see sample records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info() for data types and non-null counts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 for mean, spread and ranges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count for every column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63640" y="2423160"/>
            <a:ext cx="5376672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8368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asked at this stage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342900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data types correct for each column?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value ranges realistic?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target price distributed?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columns need cleaning?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makes every later chart and statistic trustworthy.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for Real Estate Pricing  |  Khushbu Jaiswal  |  Nexthike IT Solution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42900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25196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with isnull().sum(). Filled with median or mode, or dropped when a column was too sparse.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52544" y="242316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26864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26864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626864" y="342900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 &amp; inconsistencies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626864" y="425196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repeated listings and standardised text such as locality names and area units.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156448" y="242316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430768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30768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430768" y="342900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425196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area and price to numeric values after removing units and symbols.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expose relationships that raw columns hide.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for Real Estate Pricing  |  Khushbu Jaiswal  |  Nexthike IT Solution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2900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per sq ft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5196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divided by area, allowing fair comparison between small and large properties.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52544" y="242316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26864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342900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and size groups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626864" y="425196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values grouped into bands to compare price levels clearly.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56448" y="242316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30768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30768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30768" y="342900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grouping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430768" y="425196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localities combined into one group so charts stay readable.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detection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values can distort averages and correlations, so each one was examined.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for Real Estate Pricing  |  Khushbu Jaiswal  |  Nexthike IT Solution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outliers were found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290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 for price, area and price per sq ft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rule: below Q1 - 1.5 x IQR or above Q3 + 1.5 x IQR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 to spot impossible combinations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63640" y="2423160"/>
            <a:ext cx="5376672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42900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Errors, such as an unrealistic area, were removed or corrected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luxury properties were kept and noted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checked by comparing statistics before and after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variable was studied on its own to understand its distribution.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for Real Estate Pricing  |  Khushbu Jaiswal  |  Nexthike IT Solution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42900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25196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and skewness check to see whether prices cluster low with a long tail.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52544" y="242316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26864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26864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626864" y="342900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and rooms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626864" y="425196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area, bedrooms and bathrooms to find the most common property types.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156448" y="242316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430768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30768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430768" y="342900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425196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of locality and property type to see where listings are concentrated.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 analysis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variables against price shows what actually moves it.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for Real Estate Pricing  |  Khushbu Jaiswal  |  Nexthike IT Solution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2900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vs area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5196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showing how price rises with size and where the trend breaks.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52544" y="242316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26864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342900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vs location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626864" y="425196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 and group averages showing the price gap between localities.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56448" y="242316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30768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30768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30768" y="342900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vs rooms and amenities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430768" y="425196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average price across bedroom counts and amenity levels.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Seaborn heatmap summarised the linear relationship between all numeric features.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for Real Estate Pricing  |  Khushbu Jaiswal  |  Nexthike IT Solution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analysed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290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price, ranked from strongest to weakest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highly related features that carry overlapping information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which features to keep for future modelling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63640" y="2423160"/>
            <a:ext cx="5376672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the heatmap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42900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near +1: prices rise together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near 0: little linear relationship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near -1: one falls as the other rises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07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11680"/>
            <a:ext cx="9720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shows a [strong / moderate] relationship with price ([r = __]).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24612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063240"/>
            <a:ext cx="9720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creates the largest price gap: [locality A] vs [locality B].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114800"/>
            <a:ext cx="9720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sq ft is [higher / lower] in [property type or age band].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34924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5166360"/>
            <a:ext cx="9720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were [__ %] of records and were [removed / retained].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for Real Estate Pricing  |  Khushbu Jaiswal  |  Nexthike IT Solution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findings translate into practical decisions for different groups.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for Real Estate Pricing  |  Khushbu Jaiswal  |  Nexthike IT Solution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2900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5196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listings against fair price-per-sq-ft benchmarks for the locality.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52544" y="242316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26864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342900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Sellers and agents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626864" y="425196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properties competitively using the features buyers value most.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56448" y="242316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30768" y="269748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30768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30768" y="342900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Developers and investors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430768" y="425196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localities and property types with the strongest pricing potential.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next steps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is the foundation for predictive pricing.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for Real Estate Pricing  |  Khushbu Jaiswal  |  Nexthike IT Solution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290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and inconsistent values in raw listings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genuine luxury properties from errors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price distribution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63640" y="2423160"/>
            <a:ext cx="5376672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42900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regression models: Linear, Random Forest, XGBoost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features using the correlation findings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dashboard for interactive price exploration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669280" cy="5669280"/>
          </a:xfrm>
          <a:prstGeom prst="ellipse">
            <a:avLst/>
          </a:prstGeom>
          <a:solidFill>
            <a:srgbClr val="1D2E55"/>
          </a:solidFill>
          <a:ln w="12700">
            <a:solidFill>
              <a:srgbClr val="1D2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291840"/>
            <a:ext cx="4023360" cy="402336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2860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9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Khushbu Jaiswal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 IT Solution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1302</Words>
  <Application>Microsoft Office PowerPoint</Application>
  <PresentationFormat>Widescreen</PresentationFormat>
  <Paragraphs>252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for Real Estate Pricing</dc:title>
  <dc:subject>PptxGenJS Presentation</dc:subject>
  <dc:creator>Khushbu Jaiswal</dc:creator>
  <cp:lastModifiedBy>shaanchatur@gmail.com</cp:lastModifiedBy>
  <cp:revision>1</cp:revision>
  <dcterms:created xsi:type="dcterms:W3CDTF">2026-09-24T13:02:58Z</dcterms:created>
  <dcterms:modified xsi:type="dcterms:W3CDTF">2026-09-24T13:05:44Z</dcterms:modified>
</cp:coreProperties>
</file>